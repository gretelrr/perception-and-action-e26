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3"/>
  </p:notesMasterIdLst>
  <p:sldIdLst>
    <p:sldId id="256" r:id="rId2"/>
    <p:sldId id="258" r:id="rId3"/>
    <p:sldId id="282" r:id="rId4"/>
    <p:sldId id="283" r:id="rId5"/>
    <p:sldId id="284" r:id="rId6"/>
    <p:sldId id="285" r:id="rId7"/>
    <p:sldId id="280" r:id="rId8"/>
    <p:sldId id="286" r:id="rId9"/>
    <p:sldId id="281" r:id="rId10"/>
    <p:sldId id="287" r:id="rId11"/>
    <p:sldId id="279" r:id="rId12"/>
  </p:sldIdLst>
  <p:sldSz cx="9144000" cy="5143500" type="screen16x9"/>
  <p:notesSz cx="6858000" cy="9144000"/>
  <p:embeddedFontLst>
    <p:embeddedFont>
      <p:font typeface="Akatab" panose="02000000000000000000" pitchFamily="2" charset="77"/>
      <p:regular r:id=""/>
      <p:bold r:id=""/>
    </p:embeddedFont>
    <p:embeddedFont>
      <p:font typeface="Castoro" panose="02000000000000000000" pitchFamily="2" charset="0"/>
      <p:regular r:id=""/>
      <p:italic r:id="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9D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42FA3F6-EBAB-4918-88C5-9F478BC97E21}">
  <a:tblStyle styleId="{242FA3F6-EBAB-4918-88C5-9F478BC97E2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D1560D8-71BD-404A-81A5-6FC8E54848A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67"/>
    <p:restoredTop sz="94712"/>
  </p:normalViewPr>
  <p:slideViewPr>
    <p:cSldViewPr snapToGrid="0">
      <p:cViewPr varScale="1">
        <p:scale>
          <a:sx n="160" d="100"/>
          <a:sy n="160" d="100"/>
        </p:scale>
        <p:origin x="16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dist="9525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597400" y="667850"/>
            <a:ext cx="6396300" cy="229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 b="0">
                <a:latin typeface="Castoro"/>
                <a:ea typeface="Castoro"/>
                <a:cs typeface="Castoro"/>
                <a:sym typeface="Casto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5463800" y="3480892"/>
            <a:ext cx="2529900" cy="6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189050" y="182425"/>
            <a:ext cx="7989600" cy="3901800"/>
            <a:chOff x="189050" y="182425"/>
            <a:chExt cx="7989600" cy="3901800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189050" y="321905"/>
              <a:ext cx="7989600" cy="81900"/>
              <a:chOff x="189050" y="284125"/>
              <a:chExt cx="7989600" cy="81900"/>
            </a:xfrm>
          </p:grpSpPr>
          <p:sp>
            <p:nvSpPr>
              <p:cNvPr id="14" name="Google Shape;14;p2"/>
              <p:cNvSpPr/>
              <p:nvPr/>
            </p:nvSpPr>
            <p:spPr>
              <a:xfrm rot="-5400000">
                <a:off x="7884800" y="72175"/>
                <a:ext cx="81900" cy="50580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katab"/>
                  <a:ea typeface="Akatab"/>
                  <a:cs typeface="Akatab"/>
                  <a:sym typeface="Akatab"/>
                </a:endParaRPr>
              </a:p>
            </p:txBody>
          </p:sp>
          <p:cxnSp>
            <p:nvCxnSpPr>
              <p:cNvPr id="15" name="Google Shape;15;p2"/>
              <p:cNvCxnSpPr>
                <a:stCxn id="14" idx="0"/>
              </p:cNvCxnSpPr>
              <p:nvPr/>
            </p:nvCxnSpPr>
            <p:spPr>
              <a:xfrm rot="10800000">
                <a:off x="189050" y="325075"/>
                <a:ext cx="7483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ot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" name="Google Shape;16;p2"/>
            <p:cNvGrpSpPr/>
            <p:nvPr/>
          </p:nvGrpSpPr>
          <p:grpSpPr>
            <a:xfrm>
              <a:off x="403625" y="182425"/>
              <a:ext cx="81900" cy="3901800"/>
              <a:chOff x="403625" y="182425"/>
              <a:chExt cx="81900" cy="3901800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403625" y="3578425"/>
                <a:ext cx="81900" cy="50580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katab"/>
                  <a:ea typeface="Akatab"/>
                  <a:cs typeface="Akatab"/>
                  <a:sym typeface="Akatab"/>
                </a:endParaRPr>
              </a:p>
            </p:txBody>
          </p:sp>
          <p:cxnSp>
            <p:nvCxnSpPr>
              <p:cNvPr id="18" name="Google Shape;18;p2"/>
              <p:cNvCxnSpPr>
                <a:stCxn id="17" idx="0"/>
              </p:cNvCxnSpPr>
              <p:nvPr/>
            </p:nvCxnSpPr>
            <p:spPr>
              <a:xfrm rot="10800000">
                <a:off x="444575" y="182425"/>
                <a:ext cx="0" cy="3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42863" dist="9525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961425" y="2680575"/>
            <a:ext cx="4383600" cy="17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2" hasCustomPrompt="1"/>
          </p:nvPr>
        </p:nvSpPr>
        <p:spPr>
          <a:xfrm>
            <a:off x="961425" y="1649425"/>
            <a:ext cx="1032300" cy="743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 b="0" i="1">
                <a:solidFill>
                  <a:schemeClr val="lt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>
            <a:spLocks noGrp="1"/>
          </p:cNvSpPr>
          <p:nvPr>
            <p:ph type="pic" idx="3"/>
          </p:nvPr>
        </p:nvSpPr>
        <p:spPr>
          <a:xfrm>
            <a:off x="5109150" y="539550"/>
            <a:ext cx="2760600" cy="40644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dist="9525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65" name="Google Shape;65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66" name="Google Shape;66;p8"/>
          <p:cNvGrpSpPr/>
          <p:nvPr/>
        </p:nvGrpSpPr>
        <p:grpSpPr>
          <a:xfrm>
            <a:off x="384800" y="859801"/>
            <a:ext cx="8571101" cy="4095600"/>
            <a:chOff x="384800" y="859801"/>
            <a:chExt cx="8571101" cy="4095600"/>
          </a:xfrm>
        </p:grpSpPr>
        <p:sp>
          <p:nvSpPr>
            <p:cNvPr id="67" name="Google Shape;67;p8"/>
            <p:cNvSpPr/>
            <p:nvPr/>
          </p:nvSpPr>
          <p:spPr>
            <a:xfrm flipH="1">
              <a:off x="7855150" y="859801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68" name="Google Shape;68;p8"/>
            <p:cNvCxnSpPr/>
            <p:nvPr/>
          </p:nvCxnSpPr>
          <p:spPr>
            <a:xfrm rot="5400000">
              <a:off x="5939200" y="2998501"/>
              <a:ext cx="3913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9" name="Google Shape;69;p8"/>
            <p:cNvSpPr/>
            <p:nvPr/>
          </p:nvSpPr>
          <p:spPr>
            <a:xfrm rot="-5400000" flipH="1">
              <a:off x="596750" y="4501752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70" name="Google Shape;70;p8"/>
            <p:cNvCxnSpPr/>
            <p:nvPr/>
          </p:nvCxnSpPr>
          <p:spPr>
            <a:xfrm>
              <a:off x="898501" y="4754652"/>
              <a:ext cx="8057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dist="9525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73" name="Google Shape;73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75" name="Google Shape;75;p9"/>
          <p:cNvGrpSpPr/>
          <p:nvPr/>
        </p:nvGrpSpPr>
        <p:grpSpPr>
          <a:xfrm>
            <a:off x="188100" y="338850"/>
            <a:ext cx="8771701" cy="4488651"/>
            <a:chOff x="188100" y="338850"/>
            <a:chExt cx="8771701" cy="4488651"/>
          </a:xfrm>
        </p:grpSpPr>
        <p:sp>
          <p:nvSpPr>
            <p:cNvPr id="76" name="Google Shape;76;p9"/>
            <p:cNvSpPr/>
            <p:nvPr/>
          </p:nvSpPr>
          <p:spPr>
            <a:xfrm rot="5400000">
              <a:off x="3980800" y="4533651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77" name="Google Shape;77;p9"/>
            <p:cNvCxnSpPr/>
            <p:nvPr/>
          </p:nvCxnSpPr>
          <p:spPr>
            <a:xfrm rot="10800000">
              <a:off x="188100" y="4786551"/>
              <a:ext cx="3913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8" name="Google Shape;78;p9"/>
            <p:cNvSpPr/>
            <p:nvPr/>
          </p:nvSpPr>
          <p:spPr>
            <a:xfrm rot="-5400000">
              <a:off x="600650" y="126900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79" name="Google Shape;79;p9"/>
            <p:cNvCxnSpPr/>
            <p:nvPr/>
          </p:nvCxnSpPr>
          <p:spPr>
            <a:xfrm>
              <a:off x="902401" y="379800"/>
              <a:ext cx="8057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dist="9525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grpSp>
        <p:nvGrpSpPr>
          <p:cNvPr id="226" name="Google Shape;226;p25"/>
          <p:cNvGrpSpPr/>
          <p:nvPr/>
        </p:nvGrpSpPr>
        <p:grpSpPr>
          <a:xfrm>
            <a:off x="6554694" y="808785"/>
            <a:ext cx="2401200" cy="4139700"/>
            <a:chOff x="6554694" y="808785"/>
            <a:chExt cx="2401200" cy="4139700"/>
          </a:xfrm>
        </p:grpSpPr>
        <p:sp>
          <p:nvSpPr>
            <p:cNvPr id="227" name="Google Shape;227;p25"/>
            <p:cNvSpPr/>
            <p:nvPr/>
          </p:nvSpPr>
          <p:spPr>
            <a:xfrm rot="-5400000">
              <a:off x="6766644" y="4549275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000000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228" name="Google Shape;228;p25"/>
            <p:cNvCxnSpPr>
              <a:stCxn id="227" idx="2"/>
            </p:cNvCxnSpPr>
            <p:nvPr/>
          </p:nvCxnSpPr>
          <p:spPr>
            <a:xfrm>
              <a:off x="7060494" y="4802175"/>
              <a:ext cx="1895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sp>
          <p:nvSpPr>
            <p:cNvPr id="229" name="Google Shape;229;p25"/>
            <p:cNvSpPr/>
            <p:nvPr/>
          </p:nvSpPr>
          <p:spPr>
            <a:xfrm>
              <a:off x="8665694" y="808785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000000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230" name="Google Shape;230;p25"/>
            <p:cNvCxnSpPr>
              <a:stCxn id="229" idx="2"/>
            </p:cNvCxnSpPr>
            <p:nvPr/>
          </p:nvCxnSpPr>
          <p:spPr>
            <a:xfrm>
              <a:off x="8706644" y="1314585"/>
              <a:ext cx="0" cy="3633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lvl="1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lvl="2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lvl="3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lvl="4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lvl="5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lvl="6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lvl="7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lvl="8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4" r:id="rId3"/>
    <p:sldLayoutId id="2147483655" r:id="rId4"/>
    <p:sldLayoutId id="2147483658" r:id="rId5"/>
    <p:sldLayoutId id="2147483671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sfieldguide.org.nz/en/interactives/fitts-law/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awsofux.com/fittss-law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0"/>
          <p:cNvSpPr txBox="1">
            <a:spLocks noGrp="1"/>
          </p:cNvSpPr>
          <p:nvPr>
            <p:ph type="ctrTitle"/>
          </p:nvPr>
        </p:nvSpPr>
        <p:spPr>
          <a:xfrm>
            <a:off x="1597400" y="667850"/>
            <a:ext cx="6396300" cy="229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solidFill>
                  <a:schemeClr val="accent2">
                    <a:lumMod val="50000"/>
                  </a:schemeClr>
                </a:solidFill>
              </a:rPr>
              <a:t>Fitts’ law</a:t>
            </a:r>
            <a:br>
              <a:rPr lang="en" sz="60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" sz="4000" i="1" dirty="0">
                <a:solidFill>
                  <a:schemeClr val="accent2">
                    <a:lumMod val="50000"/>
                  </a:schemeClr>
                </a:solidFill>
              </a:rPr>
              <a:t>Week 2</a:t>
            </a:r>
            <a:endParaRPr sz="4000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49" name="Google Shape;249;p30"/>
          <p:cNvSpPr txBox="1">
            <a:spLocks noGrp="1"/>
          </p:cNvSpPr>
          <p:nvPr>
            <p:ph type="subTitle" idx="1"/>
          </p:nvPr>
        </p:nvSpPr>
        <p:spPr>
          <a:xfrm>
            <a:off x="5463800" y="3480892"/>
            <a:ext cx="2529900" cy="6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Grete Liis Reimand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au763212@uni.au.dk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2"/>
          <p:cNvSpPr txBox="1">
            <a:spLocks noGrp="1"/>
          </p:cNvSpPr>
          <p:nvPr>
            <p:ph type="title"/>
          </p:nvPr>
        </p:nvSpPr>
        <p:spPr>
          <a:xfrm>
            <a:off x="744626" y="936240"/>
            <a:ext cx="4624537" cy="6980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t-EE" sz="3200" b="1" dirty="0">
                <a:solidFill>
                  <a:schemeClr val="lt1"/>
                </a:solidFill>
              </a:rPr>
              <a:t>Agenda</a:t>
            </a:r>
            <a:endParaRPr sz="3200" b="1" dirty="0">
              <a:solidFill>
                <a:schemeClr val="lt1"/>
              </a:solidFill>
            </a:endParaRPr>
          </a:p>
        </p:txBody>
      </p:sp>
      <p:grpSp>
        <p:nvGrpSpPr>
          <p:cNvPr id="265" name="Google Shape;265;p32"/>
          <p:cNvGrpSpPr/>
          <p:nvPr/>
        </p:nvGrpSpPr>
        <p:grpSpPr>
          <a:xfrm>
            <a:off x="188271" y="722355"/>
            <a:ext cx="4707300" cy="81900"/>
            <a:chOff x="196113" y="722355"/>
            <a:chExt cx="4707300" cy="81900"/>
          </a:xfrm>
        </p:grpSpPr>
        <p:sp>
          <p:nvSpPr>
            <p:cNvPr id="266" name="Google Shape;266;p32"/>
            <p:cNvSpPr/>
            <p:nvPr/>
          </p:nvSpPr>
          <p:spPr>
            <a:xfrm rot="-5400000" flipH="1">
              <a:off x="4609563" y="510405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267" name="Google Shape;267;p32"/>
            <p:cNvCxnSpPr>
              <a:stCxn id="266" idx="0"/>
            </p:cNvCxnSpPr>
            <p:nvPr/>
          </p:nvCxnSpPr>
          <p:spPr>
            <a:xfrm rot="10800000">
              <a:off x="196113" y="763305"/>
              <a:ext cx="420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68" name="Google Shape;268;p32"/>
          <p:cNvGrpSpPr/>
          <p:nvPr/>
        </p:nvGrpSpPr>
        <p:grpSpPr>
          <a:xfrm>
            <a:off x="8402038" y="1961930"/>
            <a:ext cx="81900" cy="2993100"/>
            <a:chOff x="8615038" y="1961930"/>
            <a:chExt cx="81900" cy="2993100"/>
          </a:xfrm>
        </p:grpSpPr>
        <p:sp>
          <p:nvSpPr>
            <p:cNvPr id="269" name="Google Shape;269;p32"/>
            <p:cNvSpPr/>
            <p:nvPr/>
          </p:nvSpPr>
          <p:spPr>
            <a:xfrm>
              <a:off x="8615038" y="1961930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270" name="Google Shape;270;p32"/>
            <p:cNvCxnSpPr>
              <a:stCxn id="269" idx="2"/>
            </p:cNvCxnSpPr>
            <p:nvPr/>
          </p:nvCxnSpPr>
          <p:spPr>
            <a:xfrm>
              <a:off x="8655988" y="2467730"/>
              <a:ext cx="0" cy="24873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sp>
        <p:nvSpPr>
          <p:cNvPr id="4" name="Google Shape;263;p32">
            <a:extLst>
              <a:ext uri="{FF2B5EF4-FFF2-40B4-BE49-F238E27FC236}">
                <a16:creationId xmlns:a16="http://schemas.microsoft.com/office/drawing/2014/main" id="{E56ED88A-55EF-0AB6-7EE1-DBC04781B431}"/>
              </a:ext>
            </a:extLst>
          </p:cNvPr>
          <p:cNvSpPr txBox="1">
            <a:spLocks/>
          </p:cNvSpPr>
          <p:nvPr/>
        </p:nvSpPr>
        <p:spPr>
          <a:xfrm>
            <a:off x="744626" y="1635125"/>
            <a:ext cx="4383600" cy="17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50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9pPr>
          </a:lstStyle>
          <a:p>
            <a:r>
              <a:rPr lang="en-GB" sz="1800" dirty="0"/>
              <a:t>- Introduction</a:t>
            </a:r>
          </a:p>
          <a:p>
            <a:r>
              <a:rPr lang="en-GB" sz="1800" dirty="0"/>
              <a:t>- Collaborative docs</a:t>
            </a:r>
          </a:p>
          <a:p>
            <a:r>
              <a:rPr lang="en-GB" sz="1800" dirty="0"/>
              <a:t>- GitHub repo</a:t>
            </a:r>
            <a:br>
              <a:rPr lang="en-GB" sz="1800" dirty="0"/>
            </a:br>
            <a:r>
              <a:rPr lang="en-GB" sz="1800" dirty="0"/>
              <a:t>- Fitts’ law experiment</a:t>
            </a:r>
            <a:br>
              <a:rPr lang="en-GB" sz="1800" dirty="0"/>
            </a:br>
            <a:r>
              <a:rPr lang="en-GB" sz="1800" dirty="0"/>
              <a:t>- Data analysis</a:t>
            </a:r>
            <a:br>
              <a:rPr lang="en-GB" sz="1800" dirty="0"/>
            </a:br>
            <a:r>
              <a:rPr lang="en-GB" sz="1800" dirty="0"/>
              <a:t>- Real life examples of Fitts’ law</a:t>
            </a:r>
          </a:p>
          <a:p>
            <a:endParaRPr lang="en-GB" sz="1800" dirty="0"/>
          </a:p>
          <a:p>
            <a:r>
              <a:rPr lang="en-GB" sz="1800" dirty="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A45A4-83D1-4EF5-0CCC-F3F671835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708F0-366D-52CF-412F-92C5FE39D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785" y="642023"/>
            <a:ext cx="6406665" cy="671100"/>
          </a:xfrm>
        </p:spPr>
        <p:txBody>
          <a:bodyPr/>
          <a:lstStyle/>
          <a:p>
            <a:pPr algn="l"/>
            <a:r>
              <a:rPr lang="en-EE" sz="3200" dirty="0">
                <a:solidFill>
                  <a:schemeClr val="accent2">
                    <a:lumMod val="50000"/>
                  </a:schemeClr>
                </a:solidFill>
              </a:rPr>
              <a:t>Hello </a:t>
            </a:r>
            <a:r>
              <a:rPr lang="en-EE" sz="3200" dirty="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:)</a:t>
            </a:r>
            <a:endParaRPr lang="en-EE" sz="3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" name="Google Shape;263;p32">
            <a:extLst>
              <a:ext uri="{FF2B5EF4-FFF2-40B4-BE49-F238E27FC236}">
                <a16:creationId xmlns:a16="http://schemas.microsoft.com/office/drawing/2014/main" id="{B4ECCD4C-3B9E-6427-D66B-1A08899516A7}"/>
              </a:ext>
            </a:extLst>
          </p:cNvPr>
          <p:cNvSpPr txBox="1">
            <a:spLocks/>
          </p:cNvSpPr>
          <p:nvPr/>
        </p:nvSpPr>
        <p:spPr>
          <a:xfrm>
            <a:off x="601785" y="1313123"/>
            <a:ext cx="6619630" cy="3188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50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1800" dirty="0">
                <a:solidFill>
                  <a:schemeClr val="accent2">
                    <a:lumMod val="25000"/>
                  </a:schemeClr>
                </a:solidFill>
              </a:rPr>
              <a:t>- Grete</a:t>
            </a:r>
          </a:p>
          <a:p>
            <a:pPr>
              <a:lnSpc>
                <a:spcPct val="150000"/>
              </a:lnSpc>
            </a:pPr>
            <a:r>
              <a:rPr lang="en-GB" sz="1800" dirty="0">
                <a:solidFill>
                  <a:schemeClr val="accent2">
                    <a:lumMod val="25000"/>
                  </a:schemeClr>
                </a:solidFill>
              </a:rPr>
              <a:t>- 5</a:t>
            </a:r>
            <a:r>
              <a:rPr lang="en-GB" sz="1800" baseline="30000" dirty="0">
                <a:solidFill>
                  <a:schemeClr val="accent2">
                    <a:lumMod val="25000"/>
                  </a:schemeClr>
                </a:solidFill>
              </a:rPr>
              <a:t>th</a:t>
            </a:r>
            <a:r>
              <a:rPr lang="en-GB" sz="1800" dirty="0">
                <a:solidFill>
                  <a:schemeClr val="accent2">
                    <a:lumMod val="25000"/>
                  </a:schemeClr>
                </a:solidFill>
              </a:rPr>
              <a:t> semester BSc CogSci</a:t>
            </a:r>
          </a:p>
          <a:p>
            <a:pPr>
              <a:lnSpc>
                <a:spcPct val="150000"/>
              </a:lnSpc>
            </a:pPr>
            <a:endParaRPr lang="en-GB" sz="1800" dirty="0">
              <a:solidFill>
                <a:schemeClr val="accent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EE" sz="1800" dirty="0">
              <a:solidFill>
                <a:schemeClr val="accent2">
                  <a:lumMod val="25000"/>
                </a:schemeClr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endParaRPr lang="en-GB" sz="1800" dirty="0">
              <a:solidFill>
                <a:schemeClr val="accent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GB" sz="1800" dirty="0">
                <a:solidFill>
                  <a:schemeClr val="accent2">
                    <a:lumMod val="25000"/>
                  </a:schemeClr>
                </a:solidFill>
              </a:rPr>
              <a:t>- Contact: au763212@uni.au.dk</a:t>
            </a:r>
          </a:p>
          <a:p>
            <a:pPr>
              <a:lnSpc>
                <a:spcPct val="150000"/>
              </a:lnSpc>
            </a:pPr>
            <a:endParaRPr lang="en-GB" sz="1800" dirty="0">
              <a:solidFill>
                <a:schemeClr val="accent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GB" sz="1800" dirty="0">
                <a:solidFill>
                  <a:schemeClr val="accent2">
                    <a:lumMod val="25000"/>
                  </a:schemeClr>
                </a:solidFill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788492-2B97-44CB-4C96-6DB6B77DA14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185643" y="1527396"/>
            <a:ext cx="2071543" cy="2759808"/>
          </a:xfrm>
          <a:prstGeom prst="rect">
            <a:avLst/>
          </a:prstGeom>
        </p:spPr>
      </p:pic>
      <p:pic>
        <p:nvPicPr>
          <p:cNvPr id="4098" name="Picture 2" descr="Printable Country Flag of Estonia - Waving | Vector Country Flags of the  World">
            <a:extLst>
              <a:ext uri="{FF2B5EF4-FFF2-40B4-BE49-F238E27FC236}">
                <a16:creationId xmlns:a16="http://schemas.microsoft.com/office/drawing/2014/main" id="{F084654B-BEA4-2EA8-71DC-45C7604A5B6E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89384" flipH="1">
            <a:off x="1406329" y="1371908"/>
            <a:ext cx="269329" cy="212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9794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A1BFB-0FC6-50A3-BBCE-D66EE26D1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E6483-DEF9-90A2-E35D-B9ADCCB71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785" y="642023"/>
            <a:ext cx="6406665" cy="671100"/>
          </a:xfrm>
        </p:spPr>
        <p:txBody>
          <a:bodyPr/>
          <a:lstStyle/>
          <a:p>
            <a:pPr algn="l"/>
            <a:r>
              <a:rPr lang="en-EE" sz="3200" dirty="0">
                <a:solidFill>
                  <a:schemeClr val="accent2">
                    <a:lumMod val="50000"/>
                  </a:schemeClr>
                </a:solidFill>
              </a:rPr>
              <a:t>Expectations</a:t>
            </a:r>
          </a:p>
        </p:txBody>
      </p:sp>
      <p:sp>
        <p:nvSpPr>
          <p:cNvPr id="6" name="Google Shape;263;p32">
            <a:extLst>
              <a:ext uri="{FF2B5EF4-FFF2-40B4-BE49-F238E27FC236}">
                <a16:creationId xmlns:a16="http://schemas.microsoft.com/office/drawing/2014/main" id="{3BB8304E-DDD6-FECB-9B6F-F04536FC6F39}"/>
              </a:ext>
            </a:extLst>
          </p:cNvPr>
          <p:cNvSpPr txBox="1">
            <a:spLocks/>
          </p:cNvSpPr>
          <p:nvPr/>
        </p:nvSpPr>
        <p:spPr>
          <a:xfrm>
            <a:off x="601785" y="1313123"/>
            <a:ext cx="3462215" cy="3188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50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GB" sz="1800" b="1" dirty="0">
                <a:solidFill>
                  <a:srgbClr val="EA9DAE"/>
                </a:solidFill>
              </a:rPr>
              <a:t>What I expect of you</a:t>
            </a:r>
          </a:p>
          <a:p>
            <a:r>
              <a:rPr lang="en-GB" sz="1800" dirty="0">
                <a:solidFill>
                  <a:schemeClr val="accent2">
                    <a:lumMod val="25000"/>
                  </a:schemeClr>
                </a:solidFill>
              </a:rPr>
              <a:t>- that you ask all the questions you have</a:t>
            </a:r>
            <a:br>
              <a:rPr lang="en-GB" sz="1800" dirty="0">
                <a:solidFill>
                  <a:schemeClr val="accent2">
                    <a:lumMod val="25000"/>
                  </a:schemeClr>
                </a:solidFill>
              </a:rPr>
            </a:br>
            <a:br>
              <a:rPr lang="en-GB" sz="1800" dirty="0">
                <a:solidFill>
                  <a:schemeClr val="accent2">
                    <a:lumMod val="25000"/>
                  </a:schemeClr>
                </a:solidFill>
              </a:rPr>
            </a:br>
            <a:r>
              <a:rPr lang="en-GB" sz="1800" dirty="0">
                <a:solidFill>
                  <a:schemeClr val="accent2">
                    <a:lumMod val="25000"/>
                  </a:schemeClr>
                </a:solidFill>
              </a:rPr>
              <a:t>- that you participate and give me feedback on how it’s going</a:t>
            </a:r>
          </a:p>
          <a:p>
            <a:endParaRPr lang="en-GB" sz="1800" b="1" dirty="0">
              <a:solidFill>
                <a:schemeClr val="accent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GB" sz="1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GB" sz="1800" dirty="0">
                <a:solidFill>
                  <a:schemeClr val="tx1"/>
                </a:solidFill>
              </a:rPr>
              <a:t> </a:t>
            </a:r>
          </a:p>
        </p:txBody>
      </p:sp>
      <p:pic>
        <p:nvPicPr>
          <p:cNvPr id="1026" name="Picture 2" descr="Single Sparkle PNGs for Free Download">
            <a:extLst>
              <a:ext uri="{FF2B5EF4-FFF2-40B4-BE49-F238E27FC236}">
                <a16:creationId xmlns:a16="http://schemas.microsoft.com/office/drawing/2014/main" id="{AFAB782C-D038-3CFD-31F8-01A77A5928D8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942" y="415377"/>
            <a:ext cx="1636346" cy="1636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263;p32">
            <a:extLst>
              <a:ext uri="{FF2B5EF4-FFF2-40B4-BE49-F238E27FC236}">
                <a16:creationId xmlns:a16="http://schemas.microsoft.com/office/drawing/2014/main" id="{B38ED596-3868-086E-7023-B6F29A45C67A}"/>
              </a:ext>
            </a:extLst>
          </p:cNvPr>
          <p:cNvSpPr txBox="1">
            <a:spLocks/>
          </p:cNvSpPr>
          <p:nvPr/>
        </p:nvSpPr>
        <p:spPr>
          <a:xfrm>
            <a:off x="4391269" y="1313123"/>
            <a:ext cx="3462215" cy="3188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50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GB" sz="1800" b="1" dirty="0">
                <a:solidFill>
                  <a:srgbClr val="EA9DAE"/>
                </a:solidFill>
              </a:rPr>
              <a:t>What you can expect of me</a:t>
            </a:r>
          </a:p>
          <a:p>
            <a:r>
              <a:rPr lang="en-GB" sz="1800" dirty="0">
                <a:solidFill>
                  <a:schemeClr val="tx1"/>
                </a:solidFill>
              </a:rPr>
              <a:t>- that I will answer your questions (or find an answer if I don’t know it)</a:t>
            </a:r>
            <a:br>
              <a:rPr lang="en-GB" sz="1800" dirty="0">
                <a:solidFill>
                  <a:schemeClr val="tx1"/>
                </a:solidFill>
              </a:rPr>
            </a:br>
            <a:br>
              <a:rPr lang="en-GB" sz="1800" dirty="0">
                <a:solidFill>
                  <a:schemeClr val="tx1"/>
                </a:solidFill>
              </a:rPr>
            </a:br>
            <a:r>
              <a:rPr lang="en-GB" sz="1800" dirty="0">
                <a:solidFill>
                  <a:schemeClr val="tx1"/>
                </a:solidFill>
              </a:rPr>
              <a:t>- I’m here to make this experience as good as possible for you guys</a:t>
            </a:r>
            <a:endParaRPr lang="en-GB" sz="1800" dirty="0">
              <a:solidFill>
                <a:schemeClr val="accent2">
                  <a:lumMod val="25000"/>
                </a:schemeClr>
              </a:solidFill>
            </a:endParaRPr>
          </a:p>
          <a:p>
            <a:r>
              <a:rPr lang="en-GB" sz="18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37851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FC9A6-BFB0-1B60-5E30-CEA021CC1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C5C16-1AAC-CFB7-0AB3-B68D6D856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785" y="642023"/>
            <a:ext cx="6406665" cy="671100"/>
          </a:xfrm>
        </p:spPr>
        <p:txBody>
          <a:bodyPr/>
          <a:lstStyle/>
          <a:p>
            <a:pPr algn="l"/>
            <a:r>
              <a:rPr lang="en-EE" sz="3200" dirty="0">
                <a:solidFill>
                  <a:schemeClr val="accent2">
                    <a:lumMod val="50000"/>
                  </a:schemeClr>
                </a:solidFill>
              </a:rPr>
              <a:t>Collaborative brainstorm docs</a:t>
            </a:r>
          </a:p>
        </p:txBody>
      </p:sp>
      <p:sp>
        <p:nvSpPr>
          <p:cNvPr id="6" name="Google Shape;263;p32">
            <a:extLst>
              <a:ext uri="{FF2B5EF4-FFF2-40B4-BE49-F238E27FC236}">
                <a16:creationId xmlns:a16="http://schemas.microsoft.com/office/drawing/2014/main" id="{F077F0D5-A3E9-3D17-A40F-2AC7BAF01C5A}"/>
              </a:ext>
            </a:extLst>
          </p:cNvPr>
          <p:cNvSpPr txBox="1">
            <a:spLocks/>
          </p:cNvSpPr>
          <p:nvPr/>
        </p:nvSpPr>
        <p:spPr>
          <a:xfrm>
            <a:off x="601785" y="1313123"/>
            <a:ext cx="6619630" cy="3188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50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9pPr>
          </a:lstStyle>
          <a:p>
            <a:r>
              <a:rPr lang="en-GB" sz="1800" dirty="0">
                <a:solidFill>
                  <a:schemeClr val="accent2">
                    <a:lumMod val="25000"/>
                  </a:schemeClr>
                </a:solidFill>
              </a:rPr>
              <a:t>(can be found on BS under Exam inspiration)</a:t>
            </a:r>
          </a:p>
          <a:p>
            <a:endParaRPr lang="en-GB" sz="1800" dirty="0">
              <a:solidFill>
                <a:schemeClr val="accent2">
                  <a:lumMod val="25000"/>
                </a:schemeClr>
              </a:solidFill>
            </a:endParaRPr>
          </a:p>
          <a:p>
            <a:r>
              <a:rPr lang="en-GB" sz="1800" dirty="0">
                <a:solidFill>
                  <a:schemeClr val="accent2">
                    <a:lumMod val="25000"/>
                  </a:schemeClr>
                </a:solidFill>
              </a:rPr>
              <a:t>At the end of class write down any </a:t>
            </a:r>
          </a:p>
          <a:p>
            <a:r>
              <a:rPr lang="en-GB" sz="1800" dirty="0">
                <a:solidFill>
                  <a:schemeClr val="accent2">
                    <a:lumMod val="25000"/>
                  </a:schemeClr>
                </a:solidFill>
              </a:rPr>
              <a:t>thoughts/ideas/experiments which can</a:t>
            </a:r>
          </a:p>
          <a:p>
            <a:r>
              <a:rPr lang="en-GB" sz="1800" dirty="0">
                <a:solidFill>
                  <a:schemeClr val="accent2">
                    <a:lumMod val="25000"/>
                  </a:schemeClr>
                </a:solidFill>
              </a:rPr>
              <a:t>be used at the end of the semester when </a:t>
            </a:r>
          </a:p>
          <a:p>
            <a:r>
              <a:rPr lang="en-GB" sz="1800" dirty="0">
                <a:solidFill>
                  <a:schemeClr val="accent2">
                    <a:lumMod val="25000"/>
                  </a:schemeClr>
                </a:solidFill>
              </a:rPr>
              <a:t>choosing an exam topic</a:t>
            </a:r>
          </a:p>
          <a:p>
            <a:endParaRPr lang="en-GB" sz="1800" dirty="0">
              <a:solidFill>
                <a:schemeClr val="accent2">
                  <a:lumMod val="25000"/>
                </a:schemeClr>
              </a:solidFill>
            </a:endParaRPr>
          </a:p>
          <a:p>
            <a:r>
              <a:rPr lang="en-GB" sz="1800" dirty="0">
                <a:solidFill>
                  <a:schemeClr val="accent2">
                    <a:lumMod val="25000"/>
                  </a:schemeClr>
                </a:solidFill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AB0F10-4250-B7C2-60DD-B080F6BF425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474209" y="2162235"/>
            <a:ext cx="3068006" cy="2339242"/>
          </a:xfrm>
          <a:prstGeom prst="rect">
            <a:avLst/>
          </a:prstGeom>
        </p:spPr>
      </p:pic>
      <p:pic>
        <p:nvPicPr>
          <p:cNvPr id="3074" name="Picture 2" descr="Blue Brain PNG - Free Download">
            <a:extLst>
              <a:ext uri="{FF2B5EF4-FFF2-40B4-BE49-F238E27FC236}">
                <a16:creationId xmlns:a16="http://schemas.microsoft.com/office/drawing/2014/main" id="{D3E4B9E0-9F72-D976-D991-8909ECD2901A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3445" y="1651050"/>
            <a:ext cx="1222742" cy="102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3574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51DF5-B0C9-83F2-5598-9DEEB495D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54BDC-26CC-063D-43EA-EB8D17B5A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785" y="642023"/>
            <a:ext cx="6406665" cy="671100"/>
          </a:xfrm>
        </p:spPr>
        <p:txBody>
          <a:bodyPr/>
          <a:lstStyle/>
          <a:p>
            <a:pPr algn="l"/>
            <a:r>
              <a:rPr lang="en-EE" sz="3200" dirty="0">
                <a:solidFill>
                  <a:schemeClr val="accent2">
                    <a:lumMod val="50000"/>
                  </a:schemeClr>
                </a:solidFill>
              </a:rPr>
              <a:t>GitHub repository</a:t>
            </a:r>
          </a:p>
        </p:txBody>
      </p:sp>
      <p:sp>
        <p:nvSpPr>
          <p:cNvPr id="6" name="Google Shape;263;p32">
            <a:extLst>
              <a:ext uri="{FF2B5EF4-FFF2-40B4-BE49-F238E27FC236}">
                <a16:creationId xmlns:a16="http://schemas.microsoft.com/office/drawing/2014/main" id="{729618C2-5AA1-7A0E-27E6-C8BD9FB104DB}"/>
              </a:ext>
            </a:extLst>
          </p:cNvPr>
          <p:cNvSpPr txBox="1">
            <a:spLocks/>
          </p:cNvSpPr>
          <p:nvPr/>
        </p:nvSpPr>
        <p:spPr>
          <a:xfrm>
            <a:off x="601785" y="1313123"/>
            <a:ext cx="6619630" cy="3188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50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9pPr>
          </a:lstStyle>
          <a:p>
            <a:r>
              <a:rPr lang="en-GB" sz="1800" dirty="0">
                <a:solidFill>
                  <a:schemeClr val="accent2">
                    <a:lumMod val="25000"/>
                  </a:schemeClr>
                </a:solidFill>
              </a:rPr>
              <a:t>(can be found on BS under General information)</a:t>
            </a:r>
          </a:p>
          <a:p>
            <a:endParaRPr lang="en-GB" sz="1800" dirty="0">
              <a:solidFill>
                <a:schemeClr val="accent2">
                  <a:lumMod val="25000"/>
                </a:schemeClr>
              </a:solidFill>
            </a:endParaRPr>
          </a:p>
          <a:p>
            <a:r>
              <a:rPr lang="en-GB" sz="1800" dirty="0">
                <a:solidFill>
                  <a:schemeClr val="accent2">
                    <a:lumMod val="25000"/>
                  </a:schemeClr>
                </a:solidFill>
              </a:rPr>
              <a:t>All the code and data files will be shared in this GitHub repo</a:t>
            </a:r>
          </a:p>
          <a:p>
            <a:endParaRPr lang="en-GB" sz="1800" dirty="0">
              <a:solidFill>
                <a:schemeClr val="accent2">
                  <a:lumMod val="25000"/>
                </a:schemeClr>
              </a:solidFill>
            </a:endParaRPr>
          </a:p>
          <a:p>
            <a:r>
              <a:rPr lang="en-GB" sz="1800" dirty="0">
                <a:solidFill>
                  <a:schemeClr val="accent2">
                    <a:lumMod val="25000"/>
                  </a:schemeClr>
                </a:solidFill>
              </a:rPr>
              <a:t>If you have any trouble with GitHub, I hopefully know how to help </a:t>
            </a:r>
            <a:r>
              <a:rPr lang="en-GB" sz="1800" dirty="0">
                <a:solidFill>
                  <a:schemeClr val="accent2">
                    <a:lumMod val="25000"/>
                  </a:schemeClr>
                </a:solidFill>
                <a:sym typeface="Wingdings" pitchFamily="2" charset="2"/>
              </a:rPr>
              <a:t>: )</a:t>
            </a:r>
            <a:endParaRPr lang="en-GB" sz="1800" dirty="0">
              <a:solidFill>
                <a:schemeClr val="accent2">
                  <a:lumMod val="25000"/>
                </a:schemeClr>
              </a:solidFill>
            </a:endParaRPr>
          </a:p>
          <a:p>
            <a:r>
              <a:rPr lang="en-GB" sz="1800" dirty="0">
                <a:solidFill>
                  <a:schemeClr val="accent2">
                    <a:lumMod val="25000"/>
                  </a:schemeClr>
                </a:solidFill>
              </a:rPr>
              <a:t> </a:t>
            </a:r>
          </a:p>
        </p:txBody>
      </p:sp>
      <p:pic>
        <p:nvPicPr>
          <p:cNvPr id="1026" name="Picture 2" descr="Github Logo - Free social media icons">
            <a:extLst>
              <a:ext uri="{FF2B5EF4-FFF2-40B4-BE49-F238E27FC236}">
                <a16:creationId xmlns:a16="http://schemas.microsoft.com/office/drawing/2014/main" id="{BB37193F-1B8E-C86E-276A-CE1448F3D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4722" y="3379303"/>
            <a:ext cx="1307493" cy="1307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BC6272-5F2A-1286-2030-CD2FE9033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7644" y="2883206"/>
            <a:ext cx="2090806" cy="1618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214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D822D-C79A-6F0A-775E-21302F493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785" y="642023"/>
            <a:ext cx="6406665" cy="671100"/>
          </a:xfrm>
        </p:spPr>
        <p:txBody>
          <a:bodyPr/>
          <a:lstStyle/>
          <a:p>
            <a:pPr algn="l"/>
            <a:r>
              <a:rPr lang="en-EE" sz="3200" dirty="0">
                <a:solidFill>
                  <a:schemeClr val="accent2">
                    <a:lumMod val="50000"/>
                  </a:schemeClr>
                </a:solidFill>
              </a:rPr>
              <a:t>Fitts’ law experiment</a:t>
            </a:r>
          </a:p>
        </p:txBody>
      </p:sp>
      <p:sp>
        <p:nvSpPr>
          <p:cNvPr id="6" name="Google Shape;263;p32">
            <a:extLst>
              <a:ext uri="{FF2B5EF4-FFF2-40B4-BE49-F238E27FC236}">
                <a16:creationId xmlns:a16="http://schemas.microsoft.com/office/drawing/2014/main" id="{85EE1165-C881-2AE7-B159-CD15EFA59D7D}"/>
              </a:ext>
            </a:extLst>
          </p:cNvPr>
          <p:cNvSpPr txBox="1">
            <a:spLocks/>
          </p:cNvSpPr>
          <p:nvPr/>
        </p:nvSpPr>
        <p:spPr>
          <a:xfrm>
            <a:off x="601785" y="1313123"/>
            <a:ext cx="6619630" cy="3188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50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9pPr>
          </a:lstStyle>
          <a:p>
            <a:r>
              <a:rPr lang="en-GB" sz="1800" dirty="0">
                <a:solidFill>
                  <a:schemeClr val="accent2">
                    <a:lumMod val="25000"/>
                  </a:schemeClr>
                </a:solidFill>
              </a:rPr>
              <a:t>1. Go to this website:</a:t>
            </a:r>
            <a:endParaRPr lang="en-GB" sz="18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GB" sz="1800" dirty="0">
                <a:solidFill>
                  <a:schemeClr val="accent2">
                    <a:lumMod val="75000"/>
                  </a:schemeClr>
                </a:solidFill>
                <a:hlinkClick r:id="rId2" tooltip="https://www.csfieldguide.org.nz/en/interactives/fitts-law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https://www.csfieldguide.org.nz/en/interactives/fitts-law/</a:t>
            </a:r>
            <a:r>
              <a:rPr lang="en-GB" sz="1800" dirty="0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  <a:p>
            <a:endParaRPr lang="en-GB" sz="18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GB" sz="1800" dirty="0">
                <a:solidFill>
                  <a:schemeClr val="accent2">
                    <a:lumMod val="25000"/>
                  </a:schemeClr>
                </a:solidFill>
              </a:rPr>
              <a:t>and complete the experiment</a:t>
            </a:r>
          </a:p>
          <a:p>
            <a:endParaRPr lang="en-GB" sz="1800" dirty="0">
              <a:solidFill>
                <a:schemeClr val="accent2">
                  <a:lumMod val="25000"/>
                </a:schemeClr>
              </a:solidFill>
            </a:endParaRPr>
          </a:p>
          <a:p>
            <a:r>
              <a:rPr lang="en-GB" sz="1800" dirty="0">
                <a:solidFill>
                  <a:schemeClr val="accent2">
                    <a:lumMod val="25000"/>
                  </a:schemeClr>
                </a:solidFill>
              </a:rPr>
              <a:t>2. Download the data and copy it into the shared</a:t>
            </a:r>
          </a:p>
          <a:p>
            <a:r>
              <a:rPr lang="en-GB" sz="1800" dirty="0">
                <a:solidFill>
                  <a:schemeClr val="accent2">
                    <a:lumMod val="25000"/>
                  </a:schemeClr>
                </a:solidFill>
              </a:rPr>
              <a:t>sheet on Brightspace (give yourself a random ID)</a:t>
            </a:r>
          </a:p>
          <a:p>
            <a:r>
              <a:rPr lang="en-GB" sz="1800" dirty="0">
                <a:solidFill>
                  <a:schemeClr val="accent2">
                    <a:lumMod val="25000"/>
                  </a:schemeClr>
                </a:solidFill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C7CEA2-EC2D-FE7A-15C5-6D6713E90C7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158523" y="2175023"/>
            <a:ext cx="2290060" cy="241514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EB6875-547A-4190-A79B-53044E3B57A6}"/>
              </a:ext>
            </a:extLst>
          </p:cNvPr>
          <p:cNvSpPr/>
          <p:nvPr/>
        </p:nvSpPr>
        <p:spPr>
          <a:xfrm>
            <a:off x="6471138" y="4212492"/>
            <a:ext cx="1828800" cy="4454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1213694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C5AE0-6AAC-F785-597C-5B98D5F09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5A36A-C345-F1DB-C2D7-88BB7689B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785" y="642023"/>
            <a:ext cx="6406665" cy="671100"/>
          </a:xfrm>
        </p:spPr>
        <p:txBody>
          <a:bodyPr/>
          <a:lstStyle/>
          <a:p>
            <a:pPr algn="l"/>
            <a:r>
              <a:rPr lang="en-EE" sz="3200" dirty="0">
                <a:solidFill>
                  <a:schemeClr val="accent2">
                    <a:lumMod val="50000"/>
                  </a:schemeClr>
                </a:solidFill>
              </a:rPr>
              <a:t>Fitts’ law experiment</a:t>
            </a:r>
          </a:p>
        </p:txBody>
      </p:sp>
      <p:sp>
        <p:nvSpPr>
          <p:cNvPr id="6" name="Google Shape;263;p32">
            <a:extLst>
              <a:ext uri="{FF2B5EF4-FFF2-40B4-BE49-F238E27FC236}">
                <a16:creationId xmlns:a16="http://schemas.microsoft.com/office/drawing/2014/main" id="{3B15B7C1-7938-CCF6-D9D5-6EF4AA07E142}"/>
              </a:ext>
            </a:extLst>
          </p:cNvPr>
          <p:cNvSpPr txBox="1">
            <a:spLocks/>
          </p:cNvSpPr>
          <p:nvPr/>
        </p:nvSpPr>
        <p:spPr>
          <a:xfrm>
            <a:off x="601785" y="1313123"/>
            <a:ext cx="6619630" cy="3188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50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9pPr>
          </a:lstStyle>
          <a:p>
            <a:r>
              <a:rPr lang="en-GB" sz="1800" dirty="0">
                <a:solidFill>
                  <a:schemeClr val="accent2">
                    <a:lumMod val="25000"/>
                  </a:schemeClr>
                </a:solidFill>
              </a:rPr>
              <a:t>On GitHub (and BS today) there is a very simple analysis file just to show the results of the experiment</a:t>
            </a:r>
          </a:p>
          <a:p>
            <a:endParaRPr lang="en-GB" sz="1800" dirty="0">
              <a:solidFill>
                <a:schemeClr val="accent2">
                  <a:lumMod val="25000"/>
                </a:schemeClr>
              </a:solidFill>
            </a:endParaRPr>
          </a:p>
          <a:p>
            <a:r>
              <a:rPr lang="en-GB" sz="1800" dirty="0">
                <a:solidFill>
                  <a:schemeClr val="accent2">
                    <a:lumMod val="25000"/>
                  </a:schemeClr>
                </a:solidFill>
              </a:rPr>
              <a:t>The solutions are already up on GitHub (however it’s a good practice exercise to get back to using R so I encourage you to try first)</a:t>
            </a:r>
          </a:p>
        </p:txBody>
      </p:sp>
    </p:spTree>
    <p:extLst>
      <p:ext uri="{BB962C8B-B14F-4D97-AF65-F5344CB8AC3E}">
        <p14:creationId xmlns:p14="http://schemas.microsoft.com/office/powerpoint/2010/main" val="3149458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F64C7-0C5B-3B88-0B56-DFFB9F797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4A784-FF50-7B1C-3AAF-AA3BA6A0C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785" y="642023"/>
            <a:ext cx="6406665" cy="671100"/>
          </a:xfrm>
        </p:spPr>
        <p:txBody>
          <a:bodyPr/>
          <a:lstStyle/>
          <a:p>
            <a:pPr algn="l"/>
            <a:r>
              <a:rPr lang="en-EE" sz="3200" dirty="0">
                <a:solidFill>
                  <a:schemeClr val="accent2">
                    <a:lumMod val="50000"/>
                  </a:schemeClr>
                </a:solidFill>
              </a:rPr>
              <a:t>Fitts’ law examples in real life</a:t>
            </a:r>
          </a:p>
        </p:txBody>
      </p:sp>
      <p:sp>
        <p:nvSpPr>
          <p:cNvPr id="6" name="Google Shape;263;p32">
            <a:extLst>
              <a:ext uri="{FF2B5EF4-FFF2-40B4-BE49-F238E27FC236}">
                <a16:creationId xmlns:a16="http://schemas.microsoft.com/office/drawing/2014/main" id="{835FA082-BBD1-7491-C305-712A37E9DB21}"/>
              </a:ext>
            </a:extLst>
          </p:cNvPr>
          <p:cNvSpPr txBox="1">
            <a:spLocks/>
          </p:cNvSpPr>
          <p:nvPr/>
        </p:nvSpPr>
        <p:spPr>
          <a:xfrm>
            <a:off x="601785" y="1313123"/>
            <a:ext cx="6619630" cy="3188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50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1800" dirty="0">
                <a:solidFill>
                  <a:schemeClr val="accent2">
                    <a:lumMod val="25000"/>
                  </a:schemeClr>
                </a:solidFill>
              </a:rPr>
              <a:t>Used heavily in UX design:</a:t>
            </a:r>
          </a:p>
          <a:p>
            <a:pPr>
              <a:lnSpc>
                <a:spcPct val="150000"/>
              </a:lnSpc>
            </a:pPr>
            <a:r>
              <a:rPr lang="en-GB" sz="1800" dirty="0">
                <a:solidFill>
                  <a:schemeClr val="accent2">
                    <a:lumMod val="25000"/>
                  </a:schemeClr>
                </a:solidFill>
              </a:rPr>
              <a:t>1. targets should be big enough</a:t>
            </a:r>
            <a:br>
              <a:rPr lang="en-GB" sz="1800" dirty="0">
                <a:solidFill>
                  <a:schemeClr val="accent2">
                    <a:lumMod val="25000"/>
                  </a:schemeClr>
                </a:solidFill>
              </a:rPr>
            </a:br>
            <a:r>
              <a:rPr lang="en-GB" sz="1800" dirty="0">
                <a:solidFill>
                  <a:schemeClr val="accent2">
                    <a:lumMod val="25000"/>
                  </a:schemeClr>
                </a:solidFill>
              </a:rPr>
              <a:t>2. targets should have enough room between each other</a:t>
            </a:r>
          </a:p>
          <a:p>
            <a:pPr>
              <a:lnSpc>
                <a:spcPct val="150000"/>
              </a:lnSpc>
            </a:pPr>
            <a:r>
              <a:rPr lang="en-GB" sz="1800" dirty="0">
                <a:solidFill>
                  <a:schemeClr val="accent2">
                    <a:lumMod val="25000"/>
                  </a:schemeClr>
                </a:solidFill>
              </a:rPr>
              <a:t>3. targets should be in easily acquirable areas</a:t>
            </a:r>
          </a:p>
          <a:p>
            <a:endParaRPr lang="en-GB" sz="1800" dirty="0">
              <a:solidFill>
                <a:schemeClr val="accent2">
                  <a:lumMod val="25000"/>
                </a:schemeClr>
              </a:solidFill>
            </a:endParaRPr>
          </a:p>
          <a:p>
            <a:endParaRPr lang="en-GB" sz="1800" dirty="0">
              <a:solidFill>
                <a:schemeClr val="accent2">
                  <a:lumMod val="25000"/>
                </a:schemeClr>
              </a:solidFill>
            </a:endParaRPr>
          </a:p>
          <a:p>
            <a:r>
              <a:rPr lang="en-GB" sz="1800" dirty="0">
                <a:solidFill>
                  <a:schemeClr val="accent2">
                    <a:lumMod val="25000"/>
                  </a:schemeClr>
                </a:solidFill>
              </a:rPr>
              <a:t>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7B28E0B-A6DC-69B3-B414-FD50C9A5B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4002" y="2759342"/>
            <a:ext cx="2328213" cy="1655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28-8A3D-C4A9-8FA2-0F329D533D36}"/>
              </a:ext>
            </a:extLst>
          </p:cNvPr>
          <p:cNvSpPr txBox="1"/>
          <p:nvPr/>
        </p:nvSpPr>
        <p:spPr>
          <a:xfrm>
            <a:off x="601785" y="4301422"/>
            <a:ext cx="57006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>
                <a:solidFill>
                  <a:schemeClr val="accent2">
                    <a:lumMod val="9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https://lawsofux.com/fittss-law/</a:t>
            </a:r>
            <a:endParaRPr lang="en-GB" sz="1000" dirty="0">
              <a:solidFill>
                <a:schemeClr val="accent2">
                  <a:lumMod val="90000"/>
                </a:schemeClr>
              </a:solidFill>
            </a:endParaRPr>
          </a:p>
          <a:p>
            <a:r>
              <a:rPr lang="en-GB" sz="1000" dirty="0">
                <a:solidFill>
                  <a:schemeClr val="accent2">
                    <a:lumMod val="90000"/>
                  </a:schemeClr>
                </a:solidFill>
              </a:rPr>
              <a:t>https://</a:t>
            </a:r>
            <a:r>
              <a:rPr lang="en-GB" sz="1000" dirty="0" err="1">
                <a:solidFill>
                  <a:schemeClr val="accent2">
                    <a:lumMod val="90000"/>
                  </a:schemeClr>
                </a:solidFill>
              </a:rPr>
              <a:t>blog.yarsalabs.com</a:t>
            </a:r>
            <a:r>
              <a:rPr lang="en-GB" sz="1000" dirty="0">
                <a:solidFill>
                  <a:schemeClr val="accent2">
                    <a:lumMod val="90000"/>
                  </a:schemeClr>
                </a:solidFill>
              </a:rPr>
              <a:t>/fittss-law-in-ux-design-navigating-the-world-of-precision-and-efficiency/</a:t>
            </a:r>
            <a:endParaRPr lang="en-EE" sz="1000" dirty="0">
              <a:solidFill>
                <a:schemeClr val="accent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695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EBC19-3F2E-4B5C-0D16-61F644367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6D230-BA15-7C0C-A6E2-05F4099D2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785" y="642023"/>
            <a:ext cx="6406665" cy="671100"/>
          </a:xfrm>
        </p:spPr>
        <p:txBody>
          <a:bodyPr/>
          <a:lstStyle/>
          <a:p>
            <a:pPr algn="l"/>
            <a:r>
              <a:rPr lang="en-EE" sz="3200" dirty="0">
                <a:solidFill>
                  <a:schemeClr val="accent2">
                    <a:lumMod val="50000"/>
                  </a:schemeClr>
                </a:solidFill>
              </a:rPr>
              <a:t>Wrapping up</a:t>
            </a:r>
          </a:p>
        </p:txBody>
      </p:sp>
      <p:sp>
        <p:nvSpPr>
          <p:cNvPr id="6" name="Google Shape;263;p32">
            <a:extLst>
              <a:ext uri="{FF2B5EF4-FFF2-40B4-BE49-F238E27FC236}">
                <a16:creationId xmlns:a16="http://schemas.microsoft.com/office/drawing/2014/main" id="{BE1D777E-0703-2343-C851-1E06FE05D42C}"/>
              </a:ext>
            </a:extLst>
          </p:cNvPr>
          <p:cNvSpPr txBox="1">
            <a:spLocks/>
          </p:cNvSpPr>
          <p:nvPr/>
        </p:nvSpPr>
        <p:spPr>
          <a:xfrm>
            <a:off x="601785" y="1313123"/>
            <a:ext cx="6619630" cy="3188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50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storo"/>
              <a:buNone/>
              <a:defRPr sz="3600" b="0" i="0" u="none" strike="noStrike" cap="none" spc="0">
                <a:solidFill>
                  <a:schemeClr val="lt1"/>
                </a:solidFill>
                <a:latin typeface="Castoro"/>
                <a:ea typeface="Castoro"/>
                <a:cs typeface="Castoro"/>
                <a:sym typeface="Castoro"/>
              </a:defRPr>
            </a:lvl9pPr>
          </a:lstStyle>
          <a:p>
            <a:r>
              <a:rPr lang="en-GB" sz="1800" dirty="0">
                <a:solidFill>
                  <a:schemeClr val="accent2">
                    <a:lumMod val="25000"/>
                  </a:schemeClr>
                </a:solidFill>
              </a:rPr>
              <a:t>Spend 5 minutes at your table coming up with any experiment ideas and add them to the brainstorm docs</a:t>
            </a:r>
          </a:p>
          <a:p>
            <a:endParaRPr lang="en-GB" sz="1800" dirty="0">
              <a:solidFill>
                <a:schemeClr val="accent2">
                  <a:lumMod val="25000"/>
                </a:schemeClr>
              </a:solidFill>
            </a:endParaRPr>
          </a:p>
          <a:p>
            <a:r>
              <a:rPr lang="en-GB" sz="1800" dirty="0">
                <a:solidFill>
                  <a:schemeClr val="accent2">
                    <a:lumMod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2887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61652-DF17-91C9-D57A-A6DA465F9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020" y="2071514"/>
            <a:ext cx="5837960" cy="1000471"/>
          </a:xfrm>
        </p:spPr>
        <p:txBody>
          <a:bodyPr/>
          <a:lstStyle/>
          <a:p>
            <a:pPr algn="ctr"/>
            <a:r>
              <a:rPr lang="en-EE" dirty="0"/>
              <a:t>See you next week!</a:t>
            </a:r>
          </a:p>
        </p:txBody>
      </p:sp>
    </p:spTree>
    <p:extLst>
      <p:ext uri="{BB962C8B-B14F-4D97-AF65-F5344CB8AC3E}">
        <p14:creationId xmlns:p14="http://schemas.microsoft.com/office/powerpoint/2010/main" val="477983492"/>
      </p:ext>
    </p:extLst>
  </p:cSld>
  <p:clrMapOvr>
    <a:masterClrMapping/>
  </p:clrMapOvr>
</p:sld>
</file>

<file path=ppt/theme/theme1.xml><?xml version="1.0" encoding="utf-8"?>
<a:theme xmlns:a="http://schemas.openxmlformats.org/drawingml/2006/main" name="Executive Design Company Profile by Slidesgo">
  <a:themeElements>
    <a:clrScheme name="Simple Light">
      <a:dk1>
        <a:srgbClr val="030920"/>
      </a:dk1>
      <a:lt1>
        <a:srgbClr val="EEEEEE"/>
      </a:lt1>
      <a:dk2>
        <a:srgbClr val="2A3250"/>
      </a:dk2>
      <a:lt2>
        <a:srgbClr val="526D82"/>
      </a:lt2>
      <a:accent1>
        <a:srgbClr val="9DB2BF"/>
      </a:accent1>
      <a:accent2>
        <a:srgbClr val="DDE6ED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3092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2961</TotalTime>
  <Words>413</Words>
  <Application>Microsoft Macintosh PowerPoint</Application>
  <PresentationFormat>On-screen Show (16:9)</PresentationFormat>
  <Paragraphs>70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Akatab</vt:lpstr>
      <vt:lpstr>Arial</vt:lpstr>
      <vt:lpstr>Helvetica Neue</vt:lpstr>
      <vt:lpstr>Castoro</vt:lpstr>
      <vt:lpstr>Wingdings</vt:lpstr>
      <vt:lpstr>Executive Design Company Profile by Slidesgo</vt:lpstr>
      <vt:lpstr>Fitts’ law Week 2</vt:lpstr>
      <vt:lpstr>Agenda</vt:lpstr>
      <vt:lpstr>Hello :)</vt:lpstr>
      <vt:lpstr>Expectations</vt:lpstr>
      <vt:lpstr>Collaborative brainstorm docs</vt:lpstr>
      <vt:lpstr>GitHub repository</vt:lpstr>
      <vt:lpstr>Fitts’ law experiment</vt:lpstr>
      <vt:lpstr>Fitts’ law experiment</vt:lpstr>
      <vt:lpstr>Fitts’ law examples in real life</vt:lpstr>
      <vt:lpstr>Wrapping up</vt:lpstr>
      <vt:lpstr>See you next week!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Grete Liis Reimand</cp:lastModifiedBy>
  <cp:revision>4</cp:revision>
  <dcterms:modified xsi:type="dcterms:W3CDTF">2026-09-08T09:46:15Z</dcterms:modified>
</cp:coreProperties>
</file>